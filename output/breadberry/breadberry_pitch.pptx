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チームbreadberryです。初めての電子工作に伴走するAIを提案します。対象は、都内在住の20〜30代で、趣味で電子工作を始めた社会人や学生、新入社員です。電子工作を始めても、設計ができない、どの部品を購入すればよいかわからないという壁があります。この最初のハードルを下げたいと考えました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アプローチは2つです。まず、必要な部品を教えてくれるAIエージェントが部品選びをサポートします。次に、CGで結線をひとつずつ案内します。技術的には、手取り足取り教えるような体験を目指して、CGモデル化にチャレンジしました。図は結線ガイドのコンセプトを説明する模式図で、実装画面や実際の回路図ではありません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顧客像と課題"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0" name="TextBox 1"/>
          <p:cNvSpPr txBox="1"/>
          <p:nvPr/>
        </p:nvSpPr>
        <p:spPr>
          <a:xfrm>
            <a:off x="609600" y="355600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200" b="1" spc="150">
                <a:solidFill>
                  <a:srgbClr val="B9315C"/>
                </a:solidFill>
                <a:latin typeface="Lato"/>
                <a:ea typeface="Lato"/>
              </a:rPr>
              <a:t>TEAM  /  breadberry</a:t>
            </a:r>
          </a:p>
        </p:txBody>
      </p:sp>
      <p:sp>
        <p:nvSpPr>
          <p:cNvPr id="100001" name="TextBox 2"/>
          <p:cNvSpPr txBox="1"/>
          <p:nvPr/>
        </p:nvSpPr>
        <p:spPr>
          <a:xfrm>
            <a:off x="584200" y="749300"/>
            <a:ext cx="8636000" cy="850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5400" b="1">
                <a:solidFill>
                  <a:srgbClr val="182D35"/>
                </a:solidFill>
                <a:latin typeface="Lato"/>
                <a:ea typeface="Lato"/>
              </a:rPr>
              <a:t>breadberry</a:t>
            </a:r>
          </a:p>
        </p:txBody>
      </p:sp>
      <p:sp>
        <p:nvSpPr>
          <p:cNvPr id="100002" name="TextBox 3"/>
          <p:cNvSpPr txBox="1"/>
          <p:nvPr/>
        </p:nvSpPr>
        <p:spPr>
          <a:xfrm>
            <a:off x="609600" y="1625600"/>
            <a:ext cx="99060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2800" b="1" dirty="0" err="1">
                <a:solidFill>
                  <a:srgbClr val="182D35"/>
                </a:solidFill>
                <a:latin typeface="Yu Gothic"/>
                <a:ea typeface="Yu Gothic"/>
              </a:rPr>
              <a:t>初めての電子工作に、伴走するAI</a:t>
            </a:r>
            <a:r>
              <a:rPr lang="ja-JP" altLang="en-US" sz="2800" b="1" dirty="0">
                <a:solidFill>
                  <a:srgbClr val="182D35"/>
                </a:solidFill>
                <a:latin typeface="Yu Gothic"/>
                <a:ea typeface="Yu Gothic"/>
              </a:rPr>
              <a:t>エージェント</a:t>
            </a:r>
            <a:r>
              <a:rPr lang="en-US" sz="2800" b="1" dirty="0">
                <a:solidFill>
                  <a:srgbClr val="182D35"/>
                </a:solidFill>
                <a:latin typeface="Yu Gothic"/>
                <a:ea typeface="Yu Gothic"/>
              </a:rPr>
              <a:t>。</a:t>
            </a:r>
          </a:p>
        </p:txBody>
      </p:sp>
      <p:sp>
        <p:nvSpPr>
          <p:cNvPr id="100003" name="TextBox 4"/>
          <p:cNvSpPr/>
          <p:nvPr/>
        </p:nvSpPr>
        <p:spPr>
          <a:xfrm>
            <a:off x="10299700" y="698500"/>
            <a:ext cx="1282700" cy="1282700"/>
          </a:xfrm>
          <a:prstGeom prst="roundRect">
            <a:avLst>
              <a:gd name="adj" fmla="val 6000"/>
            </a:avLst>
          </a:prstGeom>
          <a:solidFill>
            <a:srgbClr val="182D3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04" name="TextBox 5"/>
          <p:cNvSpPr/>
          <p:nvPr/>
        </p:nvSpPr>
        <p:spPr>
          <a:xfrm>
            <a:off x="10528300" y="965200"/>
            <a:ext cx="88900" cy="88900"/>
          </a:xfrm>
          <a:prstGeom prst="ellipse">
            <a:avLst/>
          </a:prstGeom>
          <a:solidFill>
            <a:srgbClr val="71958B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05" name="TextBox 6"/>
          <p:cNvSpPr/>
          <p:nvPr/>
        </p:nvSpPr>
        <p:spPr>
          <a:xfrm>
            <a:off x="10795000" y="965200"/>
            <a:ext cx="88900" cy="88900"/>
          </a:xfrm>
          <a:prstGeom prst="ellipse">
            <a:avLst/>
          </a:prstGeom>
          <a:solidFill>
            <a:srgbClr val="71958B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06" name="TextBox 7"/>
          <p:cNvSpPr/>
          <p:nvPr/>
        </p:nvSpPr>
        <p:spPr>
          <a:xfrm>
            <a:off x="11061700" y="965200"/>
            <a:ext cx="88900" cy="88900"/>
          </a:xfrm>
          <a:prstGeom prst="ellipse">
            <a:avLst/>
          </a:prstGeom>
          <a:solidFill>
            <a:srgbClr val="71958B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07" name="TextBox 8"/>
          <p:cNvSpPr/>
          <p:nvPr/>
        </p:nvSpPr>
        <p:spPr>
          <a:xfrm>
            <a:off x="10528300" y="1231900"/>
            <a:ext cx="88900" cy="88900"/>
          </a:xfrm>
          <a:prstGeom prst="ellipse">
            <a:avLst/>
          </a:prstGeom>
          <a:solidFill>
            <a:srgbClr val="71958B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08" name="TextBox 9"/>
          <p:cNvSpPr/>
          <p:nvPr/>
        </p:nvSpPr>
        <p:spPr>
          <a:xfrm>
            <a:off x="10795000" y="1231900"/>
            <a:ext cx="88900" cy="88900"/>
          </a:xfrm>
          <a:prstGeom prst="ellipse">
            <a:avLst/>
          </a:prstGeom>
          <a:solidFill>
            <a:srgbClr val="71958B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09" name="TextBox 10"/>
          <p:cNvSpPr/>
          <p:nvPr/>
        </p:nvSpPr>
        <p:spPr>
          <a:xfrm>
            <a:off x="11061700" y="1231900"/>
            <a:ext cx="88900" cy="88900"/>
          </a:xfrm>
          <a:prstGeom prst="ellipse">
            <a:avLst/>
          </a:prstGeom>
          <a:solidFill>
            <a:srgbClr val="71958B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10" name="TextBox 11"/>
          <p:cNvSpPr/>
          <p:nvPr/>
        </p:nvSpPr>
        <p:spPr>
          <a:xfrm>
            <a:off x="10528300" y="1498600"/>
            <a:ext cx="88900" cy="88900"/>
          </a:xfrm>
          <a:prstGeom prst="ellipse">
            <a:avLst/>
          </a:prstGeom>
          <a:solidFill>
            <a:srgbClr val="71958B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11" name="TextBox 12"/>
          <p:cNvSpPr/>
          <p:nvPr/>
        </p:nvSpPr>
        <p:spPr>
          <a:xfrm>
            <a:off x="10795000" y="1498600"/>
            <a:ext cx="88900" cy="88900"/>
          </a:xfrm>
          <a:prstGeom prst="ellipse">
            <a:avLst/>
          </a:prstGeom>
          <a:solidFill>
            <a:srgbClr val="71958B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12" name="TextBox 13"/>
          <p:cNvSpPr/>
          <p:nvPr/>
        </p:nvSpPr>
        <p:spPr>
          <a:xfrm>
            <a:off x="11061700" y="1498600"/>
            <a:ext cx="88900" cy="88900"/>
          </a:xfrm>
          <a:prstGeom prst="ellipse">
            <a:avLst/>
          </a:prstGeom>
          <a:solidFill>
            <a:srgbClr val="71958B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13" name="TextBox 14"/>
          <p:cNvSpPr txBox="1"/>
          <p:nvPr/>
        </p:nvSpPr>
        <p:spPr>
          <a:xfrm>
            <a:off x="10820400" y="1016000"/>
            <a:ext cx="304800" cy="50800"/>
          </a:xfrm>
          <a:prstGeom prst="rect">
            <a:avLst/>
          </a:prstGeom>
          <a:solidFill>
            <a:srgbClr val="F0BD63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14" name="TextBox 15"/>
          <p:cNvSpPr txBox="1"/>
          <p:nvPr/>
        </p:nvSpPr>
        <p:spPr>
          <a:xfrm>
            <a:off x="11074400" y="1016000"/>
            <a:ext cx="50800" cy="533400"/>
          </a:xfrm>
          <a:prstGeom prst="rect">
            <a:avLst/>
          </a:prstGeom>
          <a:solidFill>
            <a:srgbClr val="F0BD63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15" name="TextBox 16"/>
          <p:cNvSpPr/>
          <p:nvPr/>
        </p:nvSpPr>
        <p:spPr>
          <a:xfrm>
            <a:off x="11010900" y="1435100"/>
            <a:ext cx="177800" cy="177800"/>
          </a:xfrm>
          <a:prstGeom prst="ellipse">
            <a:avLst/>
          </a:prstGeom>
          <a:solidFill>
            <a:srgbClr val="F0BD63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16" name="TextBox 17"/>
          <p:cNvSpPr/>
          <p:nvPr/>
        </p:nvSpPr>
        <p:spPr>
          <a:xfrm>
            <a:off x="609600" y="2438400"/>
            <a:ext cx="10972800" cy="1079500"/>
          </a:xfrm>
          <a:prstGeom prst="roundRect">
            <a:avLst>
              <a:gd name="adj" fmla="val 6000"/>
            </a:avLst>
          </a:prstGeom>
          <a:solidFill>
            <a:srgbClr val="E8EDE7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17" name="TextBox 18"/>
          <p:cNvSpPr txBox="1"/>
          <p:nvPr/>
        </p:nvSpPr>
        <p:spPr>
          <a:xfrm>
            <a:off x="863600" y="2590800"/>
            <a:ext cx="11684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1">
                <a:solidFill>
                  <a:srgbClr val="52646A"/>
                </a:solidFill>
                <a:latin typeface="Yu Gothic"/>
                <a:ea typeface="Yu Gothic"/>
              </a:rPr>
              <a:t>顧客像</a:t>
            </a:r>
          </a:p>
        </p:txBody>
      </p:sp>
      <p:sp>
        <p:nvSpPr>
          <p:cNvPr id="100018" name="TextBox 19"/>
          <p:cNvSpPr txBox="1"/>
          <p:nvPr/>
        </p:nvSpPr>
        <p:spPr>
          <a:xfrm>
            <a:off x="2222500" y="2552700"/>
            <a:ext cx="9017000" cy="393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2100" b="1">
                <a:solidFill>
                  <a:srgbClr val="182D35"/>
                </a:solidFill>
                <a:latin typeface="Yu Gothic"/>
                <a:ea typeface="Yu Gothic"/>
              </a:rPr>
              <a:t>都内在住の20〜30代・電子工作を趣味で始めた人</a:t>
            </a:r>
          </a:p>
        </p:txBody>
      </p:sp>
      <p:sp>
        <p:nvSpPr>
          <p:cNvPr id="100019" name="TextBox 20"/>
          <p:cNvSpPr txBox="1"/>
          <p:nvPr/>
        </p:nvSpPr>
        <p:spPr>
          <a:xfrm>
            <a:off x="2222500" y="2997200"/>
            <a:ext cx="9017000" cy="330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>
                <a:solidFill>
                  <a:srgbClr val="52646A"/>
                </a:solidFill>
                <a:latin typeface="Yu Gothic"/>
                <a:ea typeface="Yu Gothic"/>
              </a:rPr>
              <a:t>社会人（新入社員を含む）・学生</a:t>
            </a:r>
          </a:p>
        </p:txBody>
      </p:sp>
      <p:sp>
        <p:nvSpPr>
          <p:cNvPr id="100020" name="TextBox 21"/>
          <p:cNvSpPr txBox="1"/>
          <p:nvPr/>
        </p:nvSpPr>
        <p:spPr>
          <a:xfrm>
            <a:off x="609600" y="3746500"/>
            <a:ext cx="109728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2600" b="1">
                <a:solidFill>
                  <a:srgbClr val="182D35"/>
                </a:solidFill>
                <a:latin typeface="Yu Gothic"/>
                <a:ea typeface="Yu Gothic"/>
              </a:rPr>
              <a:t>趣味で始めたのに、最初の一歩が難しい。</a:t>
            </a:r>
          </a:p>
        </p:txBody>
      </p:sp>
      <p:sp>
        <p:nvSpPr>
          <p:cNvPr id="100021" name="TextBox 22"/>
          <p:cNvSpPr/>
          <p:nvPr/>
        </p:nvSpPr>
        <p:spPr>
          <a:xfrm>
            <a:off x="609600" y="4445000"/>
            <a:ext cx="5359400" cy="1562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22" name="TextBox 23"/>
          <p:cNvSpPr txBox="1"/>
          <p:nvPr/>
        </p:nvSpPr>
        <p:spPr>
          <a:xfrm>
            <a:off x="609600" y="4686300"/>
            <a:ext cx="50800" cy="482600"/>
          </a:xfrm>
          <a:prstGeom prst="rect">
            <a:avLst/>
          </a:prstGeom>
          <a:solidFill>
            <a:srgbClr val="B9315C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23" name="TextBox 24"/>
          <p:cNvSpPr txBox="1"/>
          <p:nvPr/>
        </p:nvSpPr>
        <p:spPr>
          <a:xfrm>
            <a:off x="876300" y="4597400"/>
            <a:ext cx="533400" cy="317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1">
                <a:solidFill>
                  <a:srgbClr val="B9315C"/>
                </a:solidFill>
                <a:latin typeface="Lato"/>
                <a:ea typeface="Lato"/>
              </a:rPr>
              <a:t>01</a:t>
            </a:r>
          </a:p>
        </p:txBody>
      </p:sp>
      <p:sp>
        <p:nvSpPr>
          <p:cNvPr id="100024" name="TextBox 25"/>
          <p:cNvSpPr txBox="1"/>
          <p:nvPr/>
        </p:nvSpPr>
        <p:spPr>
          <a:xfrm>
            <a:off x="876300" y="4953000"/>
            <a:ext cx="4800600" cy="431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2500" b="1">
                <a:solidFill>
                  <a:srgbClr val="182D35"/>
                </a:solidFill>
                <a:latin typeface="Yu Gothic"/>
                <a:ea typeface="Yu Gothic"/>
              </a:rPr>
              <a:t>設計ができない</a:t>
            </a:r>
          </a:p>
        </p:txBody>
      </p:sp>
      <p:sp>
        <p:nvSpPr>
          <p:cNvPr id="100025" name="TextBox 26"/>
          <p:cNvSpPr txBox="1"/>
          <p:nvPr/>
        </p:nvSpPr>
        <p:spPr>
          <a:xfrm>
            <a:off x="876300" y="5524500"/>
            <a:ext cx="48895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600">
                <a:solidFill>
                  <a:srgbClr val="52646A"/>
                </a:solidFill>
                <a:latin typeface="Yu Gothic"/>
                <a:ea typeface="Yu Gothic"/>
              </a:rPr>
              <a:t>作りたいものを、回路に落とせない。</a:t>
            </a:r>
          </a:p>
        </p:txBody>
      </p:sp>
      <p:sp>
        <p:nvSpPr>
          <p:cNvPr id="100026" name="TextBox 27"/>
          <p:cNvSpPr/>
          <p:nvPr/>
        </p:nvSpPr>
        <p:spPr>
          <a:xfrm>
            <a:off x="6223000" y="4445000"/>
            <a:ext cx="5359400" cy="1562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27" name="TextBox 28"/>
          <p:cNvSpPr txBox="1"/>
          <p:nvPr/>
        </p:nvSpPr>
        <p:spPr>
          <a:xfrm>
            <a:off x="6223000" y="4686300"/>
            <a:ext cx="50800" cy="482600"/>
          </a:xfrm>
          <a:prstGeom prst="rect">
            <a:avLst/>
          </a:prstGeom>
          <a:solidFill>
            <a:srgbClr val="B9315C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28" name="TextBox 29"/>
          <p:cNvSpPr txBox="1"/>
          <p:nvPr/>
        </p:nvSpPr>
        <p:spPr>
          <a:xfrm>
            <a:off x="6489700" y="4597400"/>
            <a:ext cx="533400" cy="317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1">
                <a:solidFill>
                  <a:srgbClr val="B9315C"/>
                </a:solidFill>
                <a:latin typeface="Lato"/>
                <a:ea typeface="Lato"/>
              </a:rPr>
              <a:t>02</a:t>
            </a:r>
          </a:p>
        </p:txBody>
      </p:sp>
      <p:sp>
        <p:nvSpPr>
          <p:cNvPr id="100029" name="TextBox 30"/>
          <p:cNvSpPr txBox="1"/>
          <p:nvPr/>
        </p:nvSpPr>
        <p:spPr>
          <a:xfrm>
            <a:off x="6489700" y="4953000"/>
            <a:ext cx="4800600" cy="431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2500" b="1">
                <a:solidFill>
                  <a:srgbClr val="182D35"/>
                </a:solidFill>
                <a:latin typeface="Yu Gothic"/>
                <a:ea typeface="Yu Gothic"/>
              </a:rPr>
              <a:t>部品を選べない</a:t>
            </a:r>
          </a:p>
        </p:txBody>
      </p:sp>
      <p:sp>
        <p:nvSpPr>
          <p:cNvPr id="100030" name="TextBox 31"/>
          <p:cNvSpPr txBox="1"/>
          <p:nvPr/>
        </p:nvSpPr>
        <p:spPr>
          <a:xfrm>
            <a:off x="6489700" y="5524500"/>
            <a:ext cx="48895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600">
                <a:solidFill>
                  <a:srgbClr val="52646A"/>
                </a:solidFill>
                <a:latin typeface="Yu Gothic"/>
                <a:ea typeface="Yu Gothic"/>
              </a:rPr>
              <a:t>どの部品を購入すればよいかわからない。</a:t>
            </a:r>
          </a:p>
        </p:txBody>
      </p:sp>
      <p:sp>
        <p:nvSpPr>
          <p:cNvPr id="100031" name="TextBox 32"/>
          <p:cNvSpPr txBox="1"/>
          <p:nvPr/>
        </p:nvSpPr>
        <p:spPr>
          <a:xfrm>
            <a:off x="609600" y="6375400"/>
            <a:ext cx="9525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200">
                <a:solidFill>
                  <a:srgbClr val="52646A"/>
                </a:solidFill>
                <a:latin typeface="Yu Gothic"/>
                <a:ea typeface="Yu Gothic"/>
              </a:rPr>
              <a:t>電子工作の「わからない」を、一歩ずつ減らす。</a:t>
            </a:r>
          </a:p>
        </p:txBody>
      </p:sp>
      <p:sp>
        <p:nvSpPr>
          <p:cNvPr id="100032" name="TextBox 33"/>
          <p:cNvSpPr txBox="1"/>
          <p:nvPr/>
        </p:nvSpPr>
        <p:spPr>
          <a:xfrm>
            <a:off x="10896600" y="637540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r"/>
            <a:r>
              <a:rPr lang="en-US" sz="1100">
                <a:solidFill>
                  <a:srgbClr val="52646A"/>
                </a:solidFill>
                <a:latin typeface="Lato"/>
                <a:ea typeface="Lato"/>
              </a:rPr>
              <a:t>01 / 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アプローチと技術的な工夫"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3" name="TextBox 1"/>
          <p:cNvSpPr txBox="1"/>
          <p:nvPr/>
        </p:nvSpPr>
        <p:spPr>
          <a:xfrm>
            <a:off x="609600" y="355600"/>
            <a:ext cx="95250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200" b="1" spc="150">
                <a:solidFill>
                  <a:srgbClr val="B9315C"/>
                </a:solidFill>
                <a:latin typeface="Lato"/>
                <a:ea typeface="Lato"/>
              </a:rPr>
              <a:t>breadberry  /  APPROACH</a:t>
            </a:r>
          </a:p>
        </p:txBody>
      </p:sp>
      <p:sp>
        <p:nvSpPr>
          <p:cNvPr id="100034" name="TextBox 2"/>
          <p:cNvSpPr txBox="1"/>
          <p:nvPr/>
        </p:nvSpPr>
        <p:spPr>
          <a:xfrm>
            <a:off x="609600" y="85090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3200" b="1">
                <a:solidFill>
                  <a:srgbClr val="182D35"/>
                </a:solidFill>
                <a:latin typeface="Yu Gothic"/>
                <a:ea typeface="Yu Gothic"/>
              </a:rPr>
              <a:t>部品選びから結線まで、AIが伴走。</a:t>
            </a:r>
          </a:p>
        </p:txBody>
      </p:sp>
      <p:sp>
        <p:nvSpPr>
          <p:cNvPr id="100035" name="TextBox 3"/>
          <p:cNvSpPr/>
          <p:nvPr/>
        </p:nvSpPr>
        <p:spPr>
          <a:xfrm>
            <a:off x="609600" y="1739900"/>
            <a:ext cx="5168900" cy="322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36" name="TextBox 4"/>
          <p:cNvSpPr/>
          <p:nvPr/>
        </p:nvSpPr>
        <p:spPr>
          <a:xfrm>
            <a:off x="6413500" y="1739900"/>
            <a:ext cx="5168900" cy="3225800"/>
          </a:xfrm>
          <a:prstGeom prst="roundRect">
            <a:avLst>
              <a:gd name="adj" fmla="val 6000"/>
            </a:avLst>
          </a:prstGeom>
          <a:solidFill>
            <a:srgbClr val="182D3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37" name="TextBox 5"/>
          <p:cNvSpPr txBox="1"/>
          <p:nvPr/>
        </p:nvSpPr>
        <p:spPr>
          <a:xfrm>
            <a:off x="889000" y="1943100"/>
            <a:ext cx="4610100" cy="292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1">
                <a:solidFill>
                  <a:srgbClr val="B9315C"/>
                </a:solidFill>
                <a:latin typeface="Yu Gothic"/>
                <a:ea typeface="Yu Gothic"/>
              </a:rPr>
              <a:t>01  /  AIエージェント</a:t>
            </a:r>
          </a:p>
        </p:txBody>
      </p:sp>
      <p:sp>
        <p:nvSpPr>
          <p:cNvPr id="100038" name="TextBox 6"/>
          <p:cNvSpPr txBox="1"/>
          <p:nvPr/>
        </p:nvSpPr>
        <p:spPr>
          <a:xfrm>
            <a:off x="889000" y="2400300"/>
            <a:ext cx="46101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2600" b="1">
                <a:solidFill>
                  <a:srgbClr val="182D35"/>
                </a:solidFill>
                <a:latin typeface="Yu Gothic"/>
                <a:ea typeface="Yu Gothic"/>
              </a:rPr>
              <a:t>必要な部品を教える</a:t>
            </a:r>
          </a:p>
        </p:txBody>
      </p:sp>
      <p:sp>
        <p:nvSpPr>
          <p:cNvPr id="100039" name="TextBox 7"/>
          <p:cNvSpPr txBox="1"/>
          <p:nvPr/>
        </p:nvSpPr>
        <p:spPr>
          <a:xfrm>
            <a:off x="889000" y="3035300"/>
            <a:ext cx="4610100" cy="736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900">
                <a:solidFill>
                  <a:srgbClr val="52646A"/>
                </a:solidFill>
                <a:latin typeface="Yu Gothic"/>
                <a:ea typeface="Yu Gothic"/>
              </a:rPr>
              <a:t>何を購入すればよいか、</a:t>
            </a:r>
          </a:p>
          <a:p>
            <a:pPr>
              <a:lnSpc>
                <a:spcPct val="120000"/>
              </a:lnSpc>
            </a:pPr>
            <a:r>
              <a:rPr lang="en-US" sz="1900">
                <a:solidFill>
                  <a:srgbClr val="52646A"/>
                </a:solidFill>
                <a:latin typeface="Yu Gothic"/>
                <a:ea typeface="Yu Gothic"/>
              </a:rPr>
              <a:t>部品選びをサポート。</a:t>
            </a:r>
          </a:p>
        </p:txBody>
      </p:sp>
      <p:sp>
        <p:nvSpPr>
          <p:cNvPr id="100040" name="TextBox 8"/>
          <p:cNvSpPr/>
          <p:nvPr/>
        </p:nvSpPr>
        <p:spPr>
          <a:xfrm>
            <a:off x="889000" y="4000500"/>
            <a:ext cx="1308100" cy="584200"/>
          </a:xfrm>
          <a:prstGeom prst="roundRect">
            <a:avLst>
              <a:gd name="adj" fmla="val 6000"/>
            </a:avLst>
          </a:prstGeom>
          <a:solidFill>
            <a:srgbClr val="E8EDE7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41" name="TextBox 9"/>
          <p:cNvSpPr txBox="1"/>
          <p:nvPr/>
        </p:nvSpPr>
        <p:spPr>
          <a:xfrm>
            <a:off x="889000" y="4000500"/>
            <a:ext cx="1308100" cy="584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700">
                <a:solidFill>
                  <a:srgbClr val="52646A"/>
                </a:solidFill>
                <a:latin typeface="Yu Gothic"/>
                <a:ea typeface="Yu Gothic"/>
              </a:rPr>
              <a:t>ボード</a:t>
            </a:r>
          </a:p>
        </p:txBody>
      </p:sp>
      <p:sp>
        <p:nvSpPr>
          <p:cNvPr id="100042" name="TextBox 10"/>
          <p:cNvSpPr/>
          <p:nvPr/>
        </p:nvSpPr>
        <p:spPr>
          <a:xfrm>
            <a:off x="2324100" y="4000500"/>
            <a:ext cx="1308100" cy="584200"/>
          </a:xfrm>
          <a:prstGeom prst="roundRect">
            <a:avLst>
              <a:gd name="adj" fmla="val 6000"/>
            </a:avLst>
          </a:prstGeom>
          <a:solidFill>
            <a:srgbClr val="E8EDE7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43" name="TextBox 11"/>
          <p:cNvSpPr txBox="1"/>
          <p:nvPr/>
        </p:nvSpPr>
        <p:spPr>
          <a:xfrm>
            <a:off x="2324100" y="4000500"/>
            <a:ext cx="1308100" cy="584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700">
                <a:solidFill>
                  <a:srgbClr val="52646A"/>
                </a:solidFill>
                <a:latin typeface="Yu Gothic"/>
                <a:ea typeface="Yu Gothic"/>
              </a:rPr>
              <a:t>部品</a:t>
            </a:r>
          </a:p>
        </p:txBody>
      </p:sp>
      <p:sp>
        <p:nvSpPr>
          <p:cNvPr id="100044" name="TextBox 12"/>
          <p:cNvSpPr/>
          <p:nvPr/>
        </p:nvSpPr>
        <p:spPr>
          <a:xfrm>
            <a:off x="3759200" y="4000500"/>
            <a:ext cx="1727200" cy="584200"/>
          </a:xfrm>
          <a:prstGeom prst="roundRect">
            <a:avLst>
              <a:gd name="adj" fmla="val 6000"/>
            </a:avLst>
          </a:prstGeom>
          <a:solidFill>
            <a:srgbClr val="E8EDE7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45" name="TextBox 13"/>
          <p:cNvSpPr txBox="1"/>
          <p:nvPr/>
        </p:nvSpPr>
        <p:spPr>
          <a:xfrm>
            <a:off x="3759200" y="4000500"/>
            <a:ext cx="1727200" cy="584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700">
                <a:solidFill>
                  <a:srgbClr val="52646A"/>
                </a:solidFill>
                <a:latin typeface="Yu Gothic"/>
                <a:ea typeface="Yu Gothic"/>
              </a:rPr>
              <a:t>ケーブル</a:t>
            </a:r>
          </a:p>
        </p:txBody>
      </p:sp>
      <p:sp>
        <p:nvSpPr>
          <p:cNvPr id="100046" name="TextBox 14"/>
          <p:cNvSpPr/>
          <p:nvPr/>
        </p:nvSpPr>
        <p:spPr>
          <a:xfrm>
            <a:off x="5943600" y="3136900"/>
            <a:ext cx="317500" cy="317500"/>
          </a:xfrm>
          <a:prstGeom prst="chevron">
            <a:avLst/>
          </a:prstGeom>
          <a:solidFill>
            <a:srgbClr val="B9315C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47" name="TextBox 15"/>
          <p:cNvSpPr txBox="1"/>
          <p:nvPr/>
        </p:nvSpPr>
        <p:spPr>
          <a:xfrm>
            <a:off x="6692900" y="1943100"/>
            <a:ext cx="4610100" cy="292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1">
                <a:solidFill>
                  <a:srgbClr val="F0BD63"/>
                </a:solidFill>
                <a:latin typeface="Yu Gothic"/>
                <a:ea typeface="Yu Gothic"/>
              </a:rPr>
              <a:t>02  /  CGガイド</a:t>
            </a:r>
          </a:p>
        </p:txBody>
      </p:sp>
      <p:sp>
        <p:nvSpPr>
          <p:cNvPr id="100048" name="TextBox 16"/>
          <p:cNvSpPr txBox="1"/>
          <p:nvPr/>
        </p:nvSpPr>
        <p:spPr>
          <a:xfrm>
            <a:off x="6692900" y="2400300"/>
            <a:ext cx="46101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Yu Gothic"/>
                <a:ea typeface="Yu Gothic"/>
              </a:rPr>
              <a:t>結線をひとつずつ教える</a:t>
            </a:r>
          </a:p>
        </p:txBody>
      </p:sp>
      <p:sp>
        <p:nvSpPr>
          <p:cNvPr id="100049" name="TextBox 17"/>
          <p:cNvSpPr txBox="1"/>
          <p:nvPr/>
        </p:nvSpPr>
        <p:spPr>
          <a:xfrm>
            <a:off x="6692900" y="3035300"/>
            <a:ext cx="4610100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700">
                <a:solidFill>
                  <a:srgbClr val="DEE8E5"/>
                </a:solidFill>
                <a:latin typeface="Yu Gothic"/>
                <a:ea typeface="Yu Gothic"/>
              </a:rPr>
              <a:t>「次にどこをつなぐか」を可視化。</a:t>
            </a:r>
          </a:p>
        </p:txBody>
      </p:sp>
      <p:sp>
        <p:nvSpPr>
          <p:cNvPr id="100050" name="TextBox 18"/>
          <p:cNvSpPr/>
          <p:nvPr/>
        </p:nvSpPr>
        <p:spPr>
          <a:xfrm>
            <a:off x="6718300" y="3619500"/>
            <a:ext cx="2451100" cy="927100"/>
          </a:xfrm>
          <a:prstGeom prst="roundRect">
            <a:avLst>
              <a:gd name="adj" fmla="val 6000"/>
            </a:avLst>
          </a:prstGeom>
          <a:solidFill>
            <a:srgbClr val="E7ECE6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51" name="TextBox 19"/>
          <p:cNvSpPr txBox="1"/>
          <p:nvPr/>
        </p:nvSpPr>
        <p:spPr>
          <a:xfrm>
            <a:off x="6883400" y="3721100"/>
            <a:ext cx="2108200" cy="25400"/>
          </a:xfrm>
          <a:prstGeom prst="rect">
            <a:avLst/>
          </a:prstGeom>
          <a:solidFill>
            <a:srgbClr val="B9315C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52" name="TextBox 20"/>
          <p:cNvSpPr txBox="1"/>
          <p:nvPr/>
        </p:nvSpPr>
        <p:spPr>
          <a:xfrm>
            <a:off x="6883400" y="4394200"/>
            <a:ext cx="2108200" cy="25400"/>
          </a:xfrm>
          <a:prstGeom prst="rect">
            <a:avLst/>
          </a:prstGeom>
          <a:solidFill>
            <a:srgbClr val="7293B4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53" name="TextBox 21"/>
          <p:cNvSpPr txBox="1"/>
          <p:nvPr/>
        </p:nvSpPr>
        <p:spPr>
          <a:xfrm>
            <a:off x="6870700" y="4076700"/>
            <a:ext cx="2133600" cy="50800"/>
          </a:xfrm>
          <a:prstGeom prst="rect">
            <a:avLst/>
          </a:prstGeom>
          <a:solidFill>
            <a:srgbClr val="C1CCC7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54" name="TextBox 22"/>
          <p:cNvSpPr/>
          <p:nvPr/>
        </p:nvSpPr>
        <p:spPr>
          <a:xfrm>
            <a:off x="6908800" y="38735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55" name="TextBox 23"/>
          <p:cNvSpPr/>
          <p:nvPr/>
        </p:nvSpPr>
        <p:spPr>
          <a:xfrm>
            <a:off x="7061200" y="38735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56" name="TextBox 24"/>
          <p:cNvSpPr/>
          <p:nvPr/>
        </p:nvSpPr>
        <p:spPr>
          <a:xfrm>
            <a:off x="7213600" y="38735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57" name="TextBox 25"/>
          <p:cNvSpPr/>
          <p:nvPr/>
        </p:nvSpPr>
        <p:spPr>
          <a:xfrm>
            <a:off x="7366000" y="38735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58" name="TextBox 26"/>
          <p:cNvSpPr/>
          <p:nvPr/>
        </p:nvSpPr>
        <p:spPr>
          <a:xfrm>
            <a:off x="7518400" y="38735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59" name="TextBox 27"/>
          <p:cNvSpPr/>
          <p:nvPr/>
        </p:nvSpPr>
        <p:spPr>
          <a:xfrm>
            <a:off x="7670800" y="38735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60" name="TextBox 28"/>
          <p:cNvSpPr/>
          <p:nvPr/>
        </p:nvSpPr>
        <p:spPr>
          <a:xfrm>
            <a:off x="7823200" y="38735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61" name="TextBox 29"/>
          <p:cNvSpPr/>
          <p:nvPr/>
        </p:nvSpPr>
        <p:spPr>
          <a:xfrm>
            <a:off x="7975600" y="38735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62" name="TextBox 30"/>
          <p:cNvSpPr/>
          <p:nvPr/>
        </p:nvSpPr>
        <p:spPr>
          <a:xfrm>
            <a:off x="8128000" y="38735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63" name="TextBox 31"/>
          <p:cNvSpPr/>
          <p:nvPr/>
        </p:nvSpPr>
        <p:spPr>
          <a:xfrm>
            <a:off x="8280400" y="38735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64" name="TextBox 32"/>
          <p:cNvSpPr/>
          <p:nvPr/>
        </p:nvSpPr>
        <p:spPr>
          <a:xfrm>
            <a:off x="8432800" y="38735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65" name="TextBox 33"/>
          <p:cNvSpPr/>
          <p:nvPr/>
        </p:nvSpPr>
        <p:spPr>
          <a:xfrm>
            <a:off x="8585200" y="38735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66" name="TextBox 34"/>
          <p:cNvSpPr/>
          <p:nvPr/>
        </p:nvSpPr>
        <p:spPr>
          <a:xfrm>
            <a:off x="8737600" y="38735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67" name="TextBox 35"/>
          <p:cNvSpPr/>
          <p:nvPr/>
        </p:nvSpPr>
        <p:spPr>
          <a:xfrm>
            <a:off x="8890000" y="38735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68" name="TextBox 36"/>
          <p:cNvSpPr/>
          <p:nvPr/>
        </p:nvSpPr>
        <p:spPr>
          <a:xfrm>
            <a:off x="6908800" y="39751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69" name="TextBox 37"/>
          <p:cNvSpPr/>
          <p:nvPr/>
        </p:nvSpPr>
        <p:spPr>
          <a:xfrm>
            <a:off x="7061200" y="39751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70" name="TextBox 38"/>
          <p:cNvSpPr/>
          <p:nvPr/>
        </p:nvSpPr>
        <p:spPr>
          <a:xfrm>
            <a:off x="7213600" y="39751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71" name="TextBox 39"/>
          <p:cNvSpPr/>
          <p:nvPr/>
        </p:nvSpPr>
        <p:spPr>
          <a:xfrm>
            <a:off x="7366000" y="39751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72" name="TextBox 40"/>
          <p:cNvSpPr/>
          <p:nvPr/>
        </p:nvSpPr>
        <p:spPr>
          <a:xfrm>
            <a:off x="7518400" y="39751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73" name="TextBox 41"/>
          <p:cNvSpPr/>
          <p:nvPr/>
        </p:nvSpPr>
        <p:spPr>
          <a:xfrm>
            <a:off x="7670800" y="39751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74" name="TextBox 42"/>
          <p:cNvSpPr/>
          <p:nvPr/>
        </p:nvSpPr>
        <p:spPr>
          <a:xfrm>
            <a:off x="7823200" y="39751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75" name="TextBox 43"/>
          <p:cNvSpPr/>
          <p:nvPr/>
        </p:nvSpPr>
        <p:spPr>
          <a:xfrm>
            <a:off x="7975600" y="39751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76" name="TextBox 44"/>
          <p:cNvSpPr/>
          <p:nvPr/>
        </p:nvSpPr>
        <p:spPr>
          <a:xfrm>
            <a:off x="8128000" y="39751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77" name="TextBox 45"/>
          <p:cNvSpPr/>
          <p:nvPr/>
        </p:nvSpPr>
        <p:spPr>
          <a:xfrm>
            <a:off x="8280400" y="39751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78" name="TextBox 46"/>
          <p:cNvSpPr/>
          <p:nvPr/>
        </p:nvSpPr>
        <p:spPr>
          <a:xfrm>
            <a:off x="8432800" y="39751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79" name="TextBox 47"/>
          <p:cNvSpPr/>
          <p:nvPr/>
        </p:nvSpPr>
        <p:spPr>
          <a:xfrm>
            <a:off x="8585200" y="39751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80" name="TextBox 48"/>
          <p:cNvSpPr/>
          <p:nvPr/>
        </p:nvSpPr>
        <p:spPr>
          <a:xfrm>
            <a:off x="8737600" y="39751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81" name="TextBox 49"/>
          <p:cNvSpPr/>
          <p:nvPr/>
        </p:nvSpPr>
        <p:spPr>
          <a:xfrm>
            <a:off x="8890000" y="39751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82" name="TextBox 50"/>
          <p:cNvSpPr/>
          <p:nvPr/>
        </p:nvSpPr>
        <p:spPr>
          <a:xfrm>
            <a:off x="6908800" y="42037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83" name="TextBox 51"/>
          <p:cNvSpPr/>
          <p:nvPr/>
        </p:nvSpPr>
        <p:spPr>
          <a:xfrm>
            <a:off x="7061200" y="42037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84" name="TextBox 52"/>
          <p:cNvSpPr/>
          <p:nvPr/>
        </p:nvSpPr>
        <p:spPr>
          <a:xfrm>
            <a:off x="7213600" y="42037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85" name="TextBox 53"/>
          <p:cNvSpPr/>
          <p:nvPr/>
        </p:nvSpPr>
        <p:spPr>
          <a:xfrm>
            <a:off x="7366000" y="42037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86" name="TextBox 54"/>
          <p:cNvSpPr/>
          <p:nvPr/>
        </p:nvSpPr>
        <p:spPr>
          <a:xfrm>
            <a:off x="7518400" y="42037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87" name="TextBox 55"/>
          <p:cNvSpPr/>
          <p:nvPr/>
        </p:nvSpPr>
        <p:spPr>
          <a:xfrm>
            <a:off x="7670800" y="42037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88" name="TextBox 56"/>
          <p:cNvSpPr/>
          <p:nvPr/>
        </p:nvSpPr>
        <p:spPr>
          <a:xfrm>
            <a:off x="7823200" y="42037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89" name="TextBox 57"/>
          <p:cNvSpPr/>
          <p:nvPr/>
        </p:nvSpPr>
        <p:spPr>
          <a:xfrm>
            <a:off x="7975600" y="42037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90" name="TextBox 58"/>
          <p:cNvSpPr/>
          <p:nvPr/>
        </p:nvSpPr>
        <p:spPr>
          <a:xfrm>
            <a:off x="8128000" y="42037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91" name="TextBox 59"/>
          <p:cNvSpPr/>
          <p:nvPr/>
        </p:nvSpPr>
        <p:spPr>
          <a:xfrm>
            <a:off x="8280400" y="42037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92" name="TextBox 60"/>
          <p:cNvSpPr/>
          <p:nvPr/>
        </p:nvSpPr>
        <p:spPr>
          <a:xfrm>
            <a:off x="8432800" y="42037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93" name="TextBox 61"/>
          <p:cNvSpPr/>
          <p:nvPr/>
        </p:nvSpPr>
        <p:spPr>
          <a:xfrm>
            <a:off x="8585200" y="42037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94" name="TextBox 62"/>
          <p:cNvSpPr/>
          <p:nvPr/>
        </p:nvSpPr>
        <p:spPr>
          <a:xfrm>
            <a:off x="8737600" y="42037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95" name="TextBox 63"/>
          <p:cNvSpPr/>
          <p:nvPr/>
        </p:nvSpPr>
        <p:spPr>
          <a:xfrm>
            <a:off x="8890000" y="42037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96" name="TextBox 64"/>
          <p:cNvSpPr/>
          <p:nvPr/>
        </p:nvSpPr>
        <p:spPr>
          <a:xfrm>
            <a:off x="6908800" y="43053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97" name="TextBox 65"/>
          <p:cNvSpPr/>
          <p:nvPr/>
        </p:nvSpPr>
        <p:spPr>
          <a:xfrm>
            <a:off x="7061200" y="43053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98" name="TextBox 66"/>
          <p:cNvSpPr/>
          <p:nvPr/>
        </p:nvSpPr>
        <p:spPr>
          <a:xfrm>
            <a:off x="7213600" y="43053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099" name="TextBox 67"/>
          <p:cNvSpPr/>
          <p:nvPr/>
        </p:nvSpPr>
        <p:spPr>
          <a:xfrm>
            <a:off x="7366000" y="43053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100" name="TextBox 68"/>
          <p:cNvSpPr/>
          <p:nvPr/>
        </p:nvSpPr>
        <p:spPr>
          <a:xfrm>
            <a:off x="7518400" y="43053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101" name="TextBox 69"/>
          <p:cNvSpPr/>
          <p:nvPr/>
        </p:nvSpPr>
        <p:spPr>
          <a:xfrm>
            <a:off x="7670800" y="43053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102" name="TextBox 70"/>
          <p:cNvSpPr/>
          <p:nvPr/>
        </p:nvSpPr>
        <p:spPr>
          <a:xfrm>
            <a:off x="7823200" y="43053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103" name="TextBox 71"/>
          <p:cNvSpPr/>
          <p:nvPr/>
        </p:nvSpPr>
        <p:spPr>
          <a:xfrm>
            <a:off x="7975600" y="43053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104" name="TextBox 72"/>
          <p:cNvSpPr/>
          <p:nvPr/>
        </p:nvSpPr>
        <p:spPr>
          <a:xfrm>
            <a:off x="8128000" y="43053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105" name="TextBox 73"/>
          <p:cNvSpPr/>
          <p:nvPr/>
        </p:nvSpPr>
        <p:spPr>
          <a:xfrm>
            <a:off x="8280400" y="43053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106" name="TextBox 74"/>
          <p:cNvSpPr/>
          <p:nvPr/>
        </p:nvSpPr>
        <p:spPr>
          <a:xfrm>
            <a:off x="8432800" y="43053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107" name="TextBox 75"/>
          <p:cNvSpPr/>
          <p:nvPr/>
        </p:nvSpPr>
        <p:spPr>
          <a:xfrm>
            <a:off x="8585200" y="43053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108" name="TextBox 76"/>
          <p:cNvSpPr/>
          <p:nvPr/>
        </p:nvSpPr>
        <p:spPr>
          <a:xfrm>
            <a:off x="8737600" y="43053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109" name="TextBox 77"/>
          <p:cNvSpPr/>
          <p:nvPr/>
        </p:nvSpPr>
        <p:spPr>
          <a:xfrm>
            <a:off x="8890000" y="4305300"/>
            <a:ext cx="38100" cy="38100"/>
          </a:xfrm>
          <a:prstGeom prst="ellipse">
            <a:avLst/>
          </a:prstGeom>
          <a:solidFill>
            <a:srgbClr val="8B9C95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110" name="TextBox 78"/>
          <p:cNvSpPr txBox="1"/>
          <p:nvPr/>
        </p:nvSpPr>
        <p:spPr>
          <a:xfrm>
            <a:off x="7239000" y="3937000"/>
            <a:ext cx="63500" cy="368300"/>
          </a:xfrm>
          <a:prstGeom prst="rect">
            <a:avLst/>
          </a:prstGeom>
          <a:solidFill>
            <a:srgbClr val="B9315C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111" name="TextBox 79"/>
          <p:cNvSpPr txBox="1"/>
          <p:nvPr/>
        </p:nvSpPr>
        <p:spPr>
          <a:xfrm>
            <a:off x="7239000" y="4229100"/>
            <a:ext cx="1282700" cy="63500"/>
          </a:xfrm>
          <a:prstGeom prst="rect">
            <a:avLst/>
          </a:prstGeom>
          <a:solidFill>
            <a:srgbClr val="B9315C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112" name="TextBox 80"/>
          <p:cNvSpPr/>
          <p:nvPr/>
        </p:nvSpPr>
        <p:spPr>
          <a:xfrm>
            <a:off x="7150100" y="3848100"/>
            <a:ext cx="228600" cy="228600"/>
          </a:xfrm>
          <a:prstGeom prst="ellipse">
            <a:avLst/>
          </a:prstGeom>
          <a:noFill/>
          <a:ln w="25400">
            <a:solidFill>
              <a:srgbClr val="F0BD63"/>
            </a:solidFill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113" name="TextBox 81"/>
          <p:cNvSpPr/>
          <p:nvPr/>
        </p:nvSpPr>
        <p:spPr>
          <a:xfrm>
            <a:off x="8407400" y="4165600"/>
            <a:ext cx="228600" cy="228600"/>
          </a:xfrm>
          <a:prstGeom prst="ellipse">
            <a:avLst/>
          </a:prstGeom>
          <a:noFill/>
          <a:ln w="25400">
            <a:solidFill>
              <a:srgbClr val="F0BD63"/>
            </a:solidFill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114" name="TextBox 82"/>
          <p:cNvSpPr txBox="1"/>
          <p:nvPr/>
        </p:nvSpPr>
        <p:spPr>
          <a:xfrm>
            <a:off x="9385300" y="36830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1">
                <a:solidFill>
                  <a:srgbClr val="FFFFFF"/>
                </a:solidFill>
                <a:latin typeface="Yu Gothic"/>
                <a:ea typeface="Yu Gothic"/>
              </a:rPr>
              <a:t>1本ずつ案内</a:t>
            </a:r>
          </a:p>
        </p:txBody>
      </p:sp>
      <p:sp>
        <p:nvSpPr>
          <p:cNvPr id="100115" name="TextBox 83"/>
          <p:cNvSpPr txBox="1"/>
          <p:nvPr/>
        </p:nvSpPr>
        <p:spPr>
          <a:xfrm>
            <a:off x="9385300" y="4076700"/>
            <a:ext cx="1917700" cy="469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200">
                <a:solidFill>
                  <a:srgbClr val="BFD0CC"/>
                </a:solidFill>
                <a:latin typeface="Yu Gothic"/>
                <a:ea typeface="Yu Gothic"/>
              </a:rPr>
              <a:t>結線ガイドの</a:t>
            </a:r>
          </a:p>
          <a:p>
            <a:r>
              <a:rPr lang="en-US" sz="1200">
                <a:solidFill>
                  <a:srgbClr val="BFD0CC"/>
                </a:solidFill>
                <a:latin typeface="Yu Gothic"/>
                <a:ea typeface="Yu Gothic"/>
              </a:rPr>
              <a:t>イメージ</a:t>
            </a:r>
          </a:p>
        </p:txBody>
      </p:sp>
      <p:sp>
        <p:nvSpPr>
          <p:cNvPr id="100116" name="TextBox 84"/>
          <p:cNvSpPr/>
          <p:nvPr/>
        </p:nvSpPr>
        <p:spPr>
          <a:xfrm>
            <a:off x="609600" y="5232400"/>
            <a:ext cx="10972800" cy="1028700"/>
          </a:xfrm>
          <a:prstGeom prst="roundRect">
            <a:avLst>
              <a:gd name="adj" fmla="val 6000"/>
            </a:avLst>
          </a:prstGeom>
          <a:solidFill>
            <a:srgbClr val="E8EDE7"/>
          </a:solidFill>
          <a:ln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2000">
              <a:solidFill>
                <a:srgbClr val="182D35"/>
              </a:solidFill>
              <a:latin typeface="Yu Gothic"/>
              <a:ea typeface="Yu Gothic"/>
            </a:endParaRPr>
          </a:p>
        </p:txBody>
      </p:sp>
      <p:sp>
        <p:nvSpPr>
          <p:cNvPr id="100117" name="TextBox 85"/>
          <p:cNvSpPr txBox="1"/>
          <p:nvPr/>
        </p:nvSpPr>
        <p:spPr>
          <a:xfrm>
            <a:off x="863600" y="5397500"/>
            <a:ext cx="1638300" cy="27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1">
                <a:solidFill>
                  <a:srgbClr val="52646A"/>
                </a:solidFill>
                <a:latin typeface="Yu Gothic"/>
                <a:ea typeface="Yu Gothic"/>
              </a:rPr>
              <a:t>技術的な工夫</a:t>
            </a:r>
          </a:p>
        </p:txBody>
      </p:sp>
      <p:sp>
        <p:nvSpPr>
          <p:cNvPr id="100118" name="TextBox 86"/>
          <p:cNvSpPr txBox="1"/>
          <p:nvPr/>
        </p:nvSpPr>
        <p:spPr>
          <a:xfrm>
            <a:off x="2730500" y="5359400"/>
            <a:ext cx="8445500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2100" b="1" dirty="0" err="1">
                <a:solidFill>
                  <a:srgbClr val="182D35"/>
                </a:solidFill>
                <a:latin typeface="Yu Gothic"/>
                <a:ea typeface="Yu Gothic"/>
              </a:rPr>
              <a:t>手取り足取り教える体験を目指して</a:t>
            </a:r>
            <a:r>
              <a:rPr lang="en-US" sz="2100" b="1" dirty="0">
                <a:solidFill>
                  <a:srgbClr val="182D35"/>
                </a:solidFill>
                <a:latin typeface="Yu Gothic"/>
                <a:ea typeface="Yu Gothic"/>
              </a:rPr>
              <a:t>、</a:t>
            </a:r>
          </a:p>
        </p:txBody>
      </p:sp>
      <p:sp>
        <p:nvSpPr>
          <p:cNvPr id="100119" name="TextBox 87"/>
          <p:cNvSpPr txBox="1"/>
          <p:nvPr/>
        </p:nvSpPr>
        <p:spPr>
          <a:xfrm>
            <a:off x="2730500" y="5740400"/>
            <a:ext cx="8445500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2100" b="1" dirty="0" err="1">
                <a:solidFill>
                  <a:srgbClr val="182D35"/>
                </a:solidFill>
                <a:latin typeface="Yu Gothic"/>
                <a:ea typeface="Yu Gothic"/>
              </a:rPr>
              <a:t>部品・結線のCGモデル化にチャレンジ</a:t>
            </a:r>
            <a:r>
              <a:rPr lang="ja-JP" altLang="en-US" sz="2100" b="1" dirty="0">
                <a:solidFill>
                  <a:srgbClr val="182D35"/>
                </a:solidFill>
                <a:latin typeface="Yu Gothic"/>
                <a:ea typeface="Yu Gothic"/>
              </a:rPr>
              <a:t>するようにプロンプトを投げました</a:t>
            </a:r>
            <a:r>
              <a:rPr lang="en-US" sz="2100" b="1" dirty="0">
                <a:solidFill>
                  <a:srgbClr val="182D35"/>
                </a:solidFill>
                <a:latin typeface="Yu Gothic"/>
                <a:ea typeface="Yu Gothic"/>
              </a:rPr>
              <a:t>。</a:t>
            </a:r>
          </a:p>
        </p:txBody>
      </p:sp>
      <p:sp>
        <p:nvSpPr>
          <p:cNvPr id="100120" name="TextBox 88"/>
          <p:cNvSpPr txBox="1"/>
          <p:nvPr/>
        </p:nvSpPr>
        <p:spPr>
          <a:xfrm>
            <a:off x="609600" y="6375400"/>
            <a:ext cx="9525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100" b="1" dirty="0" err="1">
                <a:solidFill>
                  <a:srgbClr val="52646A"/>
                </a:solidFill>
                <a:latin typeface="Yu Gothic"/>
                <a:ea typeface="Yu Gothic"/>
              </a:rPr>
              <a:t>使用技術：Google</a:t>
            </a:r>
            <a:r>
              <a:rPr lang="en-US" sz="1100" b="1" dirty="0">
                <a:solidFill>
                  <a:srgbClr val="52646A"/>
                </a:solidFill>
                <a:latin typeface="Yu Gothic"/>
                <a:ea typeface="Yu Gothic"/>
              </a:rPr>
              <a:t> Cloud Run / </a:t>
            </a:r>
            <a:r>
              <a:rPr lang="en-US" sz="1100" b="1" dirty="0" err="1">
                <a:solidFill>
                  <a:srgbClr val="52646A"/>
                </a:solidFill>
                <a:latin typeface="Yu Gothic"/>
                <a:ea typeface="Yu Gothic"/>
              </a:rPr>
              <a:t>Firestore</a:t>
            </a:r>
            <a:r>
              <a:rPr lang="en-US" sz="1100" b="1" dirty="0">
                <a:solidFill>
                  <a:srgbClr val="52646A"/>
                </a:solidFill>
                <a:latin typeface="Yu Gothic"/>
                <a:ea typeface="Yu Gothic"/>
              </a:rPr>
              <a:t> / Next.js / Gemini API / GMI Cloud / Tailwind CSS</a:t>
            </a:r>
          </a:p>
        </p:txBody>
      </p:sp>
      <p:sp>
        <p:nvSpPr>
          <p:cNvPr id="100121" name="TextBox 89"/>
          <p:cNvSpPr txBox="1"/>
          <p:nvPr/>
        </p:nvSpPr>
        <p:spPr>
          <a:xfrm>
            <a:off x="10896600" y="637540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r"/>
            <a:r>
              <a:rPr lang="en-US" sz="1100">
                <a:solidFill>
                  <a:srgbClr val="52646A"/>
                </a:solidFill>
                <a:latin typeface="Lato"/>
                <a:ea typeface="Lato"/>
              </a:rPr>
              <a:t>02 / 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游明朝"/>
        <a:cs typeface=""/>
      </a:majorFont>
      <a:minorFont>
        <a:latin typeface="Calibri"/>
        <a:ea typeface="游明朝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游明朝"/>
        <a:cs typeface=""/>
      </a:majorFont>
      <a:minorFont>
        <a:latin typeface="Calibri"/>
        <a:ea typeface="游明朝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170</Words>
  <Application>Microsoft Office PowerPoint</Application>
  <PresentationFormat>ワイド画面</PresentationFormat>
  <Paragraphs>37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Yu Gothic</vt:lpstr>
      <vt:lpstr>Arial</vt:lpstr>
      <vt:lpstr>Calibri</vt:lpstr>
      <vt:lpstr>Lato</vt:lpstr>
      <vt:lpstr>Office Theme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breadberry | 初めての電子工作に、伴走するAI</dc:title>
  <dc:creator>breadberry</dc:creator>
  <dc:description>顧客像・課題、AIとCGによるアプローチ、CGモデル化への挑戦。発表先: https://classmethod.connpass.com/event/398580/</dc:description>
  <cp:lastModifiedBy>Kenta Nakata</cp:lastModifiedBy>
  <cp:revision>3</cp:revision>
  <dcterms:created xsi:type="dcterms:W3CDTF">2026-09-19T02:54:03Z</dcterms:created>
  <dcterms:modified xsi:type="dcterms:W3CDTF">2026-09-19T04:17:23Z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1.0.151</vt:lpwstr>
  </property>
  <property fmtid="{D5CDD505-2E9C-101B-9397-08002B2CF9AE}" pid="3" name="OfficeCLI.LastModified">
    <vt:lpwstr>2026-09-19T02:59:42Z</vt:lpwstr>
  </property>
</Properties>
</file>